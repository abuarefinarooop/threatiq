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3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A38C"/>
                </a:solidFill>
                <a:latin typeface="Calibri"/>
              </a:rPr>
              <a:t>THREATIQ v4.1 — SYSTEM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Closing the Loop:
SIEM Integration &amp; Open CTI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9D3DC"/>
                </a:solidFill>
                <a:latin typeface="Calibri"/>
              </a:rPr>
              <a:t>Bidirectional SIEM integration, STIX 2.1 / MITRE ATT&amp;CK Navigator export, and cross-source correlation — added and verified under the same live-execution methodology as ThreatIQ v4.0.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Bangladesh University of Professionals · 5th National Research Project Contest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Two gaps the original architecture left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12064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B1F2B"/>
                </a:solidFill>
                <a:latin typeface="Calibri"/>
              </a:rPr>
              <a:t>1 · Classification stops short of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48056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A38C"/>
                </a:solidFill>
              </a:rPr>
              <a:t>▸  </a:t>
            </a:r>
            <a:r>
              <a:rPr sz="1400" b="1">
                <a:solidFill>
                  <a:srgbClr val="1A2027"/>
                </a:solidFill>
              </a:rPr>
              <a:t>CTI feeds in, classification out — </a:t>
            </a:r>
            <a:r>
              <a:rPr sz="1400" b="0">
                <a:solidFill>
                  <a:srgbClr val="6B7280"/>
                </a:solidFill>
              </a:rPr>
              <a:t>but nothing closes the loop to a SOC's actual detection surface.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A38C"/>
                </a:solidFill>
              </a:rPr>
              <a:t>▸  </a:t>
            </a:r>
            <a:r>
              <a:rPr sz="1400" b="1">
                <a:solidFill>
                  <a:srgbClr val="1A2027"/>
                </a:solidFill>
              </a:rPr>
              <a:t>A SIEM was only ever a data </a:t>
            </a:r>
            <a:r>
              <a:rPr sz="1400" b="0">
                <a:solidFill>
                  <a:srgbClr val="6B7280"/>
                </a:solidFill>
              </a:rPr>
              <a:t>consumer of ThreatIQ's dashboards, never a participant in the pipeline.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A38C"/>
                </a:solidFill>
              </a:rPr>
              <a:t>▸  </a:t>
            </a:r>
            <a:r>
              <a:rPr sz="1400" b="1">
                <a:solidFill>
                  <a:srgbClr val="1A2027"/>
                </a:solidFill>
              </a:rPr>
              <a:t>Result: </a:t>
            </a:r>
            <a:r>
              <a:rPr sz="1400" b="0">
                <a:solidFill>
                  <a:srgbClr val="6B7280"/>
                </a:solidFill>
              </a:rPr>
              <a:t>high-confidence classifications had no operational path to becoming a detection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512064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B1F2B"/>
                </a:solidFill>
                <a:latin typeface="Calibri"/>
              </a:rPr>
              <a:t>2 · Interoperability tied to one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448056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A38C"/>
                </a:solidFill>
              </a:rPr>
              <a:t>▸  </a:t>
            </a:r>
            <a:r>
              <a:rPr sz="1400" b="1">
                <a:solidFill>
                  <a:srgbClr val="1A2027"/>
                </a:solidFill>
              </a:rPr>
              <a:t>Enrichment only exported </a:t>
            </a:r>
            <a:r>
              <a:rPr sz="1400" b="0">
                <a:solidFill>
                  <a:srgbClr val="6B7280"/>
                </a:solidFill>
              </a:rPr>
              <a:t>through a MISP-shaped connector.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A38C"/>
                </a:solidFill>
              </a:rPr>
              <a:t>▸  </a:t>
            </a:r>
            <a:r>
              <a:rPr sz="1400" b="1">
                <a:solidFill>
                  <a:srgbClr val="1A2027"/>
                </a:solidFill>
              </a:rPr>
              <a:t>The field converged on </a:t>
            </a:r>
            <a:r>
              <a:rPr sz="1400" b="0">
                <a:solidFill>
                  <a:srgbClr val="6B7280"/>
                </a:solidFill>
              </a:rPr>
              <a:t>vendor-neutral standards years ago — STIX 2.1 (OASIS) for indicators, the MITRE ATT&amp;CK Navigator layer format for technique coverage.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A38C"/>
                </a:solidFill>
              </a:rPr>
              <a:t>▸  </a:t>
            </a:r>
            <a:r>
              <a:rPr sz="1400" b="1">
                <a:solidFill>
                  <a:srgbClr val="1A2027"/>
                </a:solidFill>
              </a:rPr>
              <a:t>Result: </a:t>
            </a:r>
            <a:r>
              <a:rPr sz="1400" b="0">
                <a:solidFill>
                  <a:srgbClr val="6B7280"/>
                </a:solidFill>
              </a:rPr>
              <a:t>output was only as useful as MISP itself, not to the wider CTI tooling ecosystem.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Closing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A3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1F2B"/>
                </a:solidFill>
                <a:latin typeface="Calibri"/>
              </a:rPr>
              <a:t>CTI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MISP · CIRCL · OTX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0312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0B1F2B"/>
          </a:solidFill>
          <a:ln w="19050">
            <a:solidFill>
              <a:srgbClr val="0B1F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128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ThreatIQ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Classify + GAT predict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0312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A3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2128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1F2B"/>
                </a:solidFill>
                <a:latin typeface="Calibri"/>
              </a:rPr>
              <a:t>MISP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6060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Publishes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03120"/>
            <a:ext cx="22860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A38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2128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1F2B"/>
                </a:solidFill>
                <a:latin typeface="Calibri"/>
              </a:rPr>
              <a:t>Wazuh SIEM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060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Auto-generates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628900.0"/>
            <a:ext cx="411480" cy="0.0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32120" y="2628900.0"/>
            <a:ext cx="411480" cy="0.0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2628900.0"/>
            <a:ext cx="411480" cy="0.0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84080.0" y="3154680"/>
            <a:ext cx="0.0" cy="822960"/>
          </a:xfrm>
          <a:prstGeom prst="bentConnector3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389120.0" y="3977640"/>
            <a:ext cx="5394960.0" cy="0"/>
          </a:xfrm>
          <a:prstGeom prst="bentConnector3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389120.0" y="3154680"/>
            <a:ext cx="0.0" cy="822960"/>
          </a:xfrm>
          <a:prstGeom prst="bentConnector3">
            <a:avLst/>
          </a:prstGeom>
          <a:ln w="25400">
            <a:solidFill>
              <a:srgbClr val="E8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46120" y="40507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WazuhConnector pulls alerts back in as a new CTI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B1F2B"/>
                </a:solidFill>
                <a:latin typeface="Calibri"/>
              </a:rPr>
              <a:t>Pull: </a:t>
            </a:r>
            <a:r>
              <a:rPr sz="1400" b="0">
                <a:solidFill>
                  <a:srgbClr val="1A2027"/>
                </a:solidFill>
                <a:latin typeface="Calibri"/>
              </a:rPr>
              <a:t>WazuhConnector treats SIEM alerts as another CTI source — identical fetch_recent(limit) interface, identical offline-fallback contract as MISP/CIRCL/OTX.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1">
                <a:solidFill>
                  <a:srgbClr val="0B1F2B"/>
                </a:solidFill>
                <a:latin typeface="Calibri"/>
              </a:rPr>
              <a:t>Push: </a:t>
            </a:r>
            <a:r>
              <a:rPr sz="1400" b="0">
                <a:solidFill>
                  <a:srgbClr val="1A2027"/>
                </a:solidFill>
                <a:latin typeface="Calibri"/>
              </a:rPr>
              <a:t>MISPExporter filters classified IoCs by confidence/severity and publishes them to MISP; Wazuh's own MISP integration module then auto-generates detection rules.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RIGOR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What a direct code audit found before anything was added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2286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2027"/>
                </a:solidFill>
                <a:latin typeface="Calibri"/>
              </a:rPr>
              <a:t>hardcoded live API key
found as a config default,
already committed to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737360"/>
            <a:ext cx="73152" cy="2286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E8A33D"/>
                </a:solidFill>
                <a:latin typeface="Calibri"/>
              </a:rPr>
              <a:t>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432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2027"/>
                </a:solidFill>
                <a:latin typeface="Calibri"/>
              </a:rPr>
              <a:t>repository size reduction
(48MB → 5.4MB) removing
stray venvs + a duplicated
nested project copy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7373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737360"/>
            <a:ext cx="73152" cy="2286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2E7D5B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432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2027"/>
                </a:solidFill>
                <a:latin typeface="Calibri"/>
              </a:rPr>
              <a:t>other hardcoded secrets
found after a full
codebase grep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500" b="1">
                <a:solidFill>
                  <a:srgbClr val="0B1F2B"/>
                </a:solidFill>
                <a:latin typeface="Calibri"/>
              </a:rPr>
              <a:t>Why this belongs in the presentation: 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solidFill>
                  <a:srgbClr val="1A2027"/>
                </a:solidFill>
                <a:latin typeface="Calibri"/>
              </a:rPr>
              <a:t>The exposed credential was found by direct static audit, not by live execution — a distinct finding from the original paper's live-verification defects, and reported for the same reason: under-reporting operational findings, whatever method locates them, understates the real cost of running CTI tooling. The key was rotated and the default removed before any new feature work began.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FEATURE 1 · SIEM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Wazuh joins the connector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618488"/>
            <a:ext cx="7095744" cy="395466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hot_conn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3054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25099"/>
            <a:ext cx="6949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CTI Feed Connectors page — MISP / CIRCL / OTX shown; Wazuh now appears as a fifth connector with the same status/fetch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783080"/>
            <a:ext cx="3840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Same interface, </a:t>
            </a:r>
            <a:r>
              <a:rPr sz="1350" b="0">
                <a:solidFill>
                  <a:srgbClr val="6B7280"/>
                </a:solidFill>
              </a:rPr>
              <a:t>no special-casing: fetch_recent(limit) -&gt; list[dict], identical to every existing connector.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Offline-fallback contract: </a:t>
            </a:r>
            <a:r>
              <a:rPr sz="1350" b="0">
                <a:solidFill>
                  <a:srgbClr val="6B7280"/>
                </a:solidFill>
              </a:rPr>
              <a:t>curated sample alerts when unconfigured, so the whole pipeline demos without live Wazuh.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Live mode: </a:t>
            </a:r>
            <a:r>
              <a:rPr sz="1350" b="0">
                <a:solidFill>
                  <a:srgbClr val="6B7280"/>
                </a:solidFill>
              </a:rPr>
              <a:t>queries the Wazuh indexer's OpenSearch-compatible search API for alerts at or above a minimum rule severity.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"Correlate Sources" button: </a:t>
            </a:r>
            <a:r>
              <a:rPr sz="1350" b="0">
                <a:solidFill>
                  <a:srgbClr val="6B7280"/>
                </a:solidFill>
              </a:rPr>
              <a:t>fetches all four connectors and boosts confidence on cross-source matches.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FEATURE 2 · OPEN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STIX 2.1 export — not a proprietary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618488"/>
            <a:ext cx="7095744" cy="395848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hot_i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309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28913"/>
            <a:ext cx="6949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IoC Library — now has an "Export STIX 2.1" button alongside CSV/JSON, next to the existing source filter (Wazuh SIEM included).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783080"/>
            <a:ext cx="384048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OASIS standard: </a:t>
            </a:r>
            <a:r>
              <a:rPr sz="1350" b="0">
                <a:solidFill>
                  <a:srgbClr val="6B7280"/>
                </a:solidFill>
              </a:rPr>
              <a:t>any STIX/TAXII-consuming tool can ingest the bundle — not just MISP.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Deterministic IDs: </a:t>
            </a:r>
            <a:r>
              <a:rPr sz="1350" b="0">
                <a:solidFill>
                  <a:srgbClr val="6B7280"/>
                </a:solidFill>
              </a:rPr>
              <a:t>UUIDv5 derived from the indicator value; re-exporting the same IoC yields the same object ID.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Spec-correct confidence: </a:t>
            </a:r>
            <a:r>
              <a:rPr sz="1350" b="0">
                <a:solidFill>
                  <a:srgbClr val="6B7280"/>
                </a:solidFill>
              </a:rPr>
              <a:t>converted to STIX's integer 0–100 scale, not ThreatIQ's internal 0.0–1.0 float.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Honest type mapping: </a:t>
            </a:r>
            <a:r>
              <a:rPr sz="1350" b="0">
                <a:solidFill>
                  <a:srgbClr val="6B7280"/>
                </a:solidFill>
              </a:rPr>
              <a:t>CVEs become proper Vulnerability objects; types with no clean STIX observable (e.g. a bare hostname) are annotated via Note, never faked.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FEATURE 3 · OPEN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MITRE ATT&amp;CK Navigator layer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618488"/>
            <a:ext cx="7095744" cy="39489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ho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949440" cy="32997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19363"/>
            <a:ext cx="6949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Attack Knowledge Graph — GAT's predicted actor-technique links now export as a Navigator layer via the new button next to Retrain GAT.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783080"/>
            <a:ext cx="384048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The most-used free analyst tool: </a:t>
            </a:r>
            <a:r>
              <a:rPr sz="1350" b="0">
                <a:solidFill>
                  <a:srgbClr val="6B7280"/>
                </a:solidFill>
              </a:rPr>
              <a:t>mitre-attack.github.io/attack-navigator — no code required to consume ThreatIQ's predictions.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Technique ID resolution: </a:t>
            </a:r>
            <a:r>
              <a:rPr sz="1350" b="0">
                <a:solidFill>
                  <a:srgbClr val="6B7280"/>
                </a:solidFill>
              </a:rPr>
              <a:t>GAT predictions carry node names; the export resolves each back to its real MITRE technique ID.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 b="1">
                <a:solidFill>
                  <a:srgbClr val="1A2027"/>
                </a:solidFill>
              </a:rPr>
              <a:t>Max, not sum: </a:t>
            </a:r>
            <a:r>
              <a:rPr sz="1350" b="0">
                <a:solidFill>
                  <a:srgbClr val="6B7280"/>
                </a:solidFill>
              </a:rPr>
              <a:t>a technique predicted by several distinct actors keeps the strongest score — not diluted by averaging.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FEATURE 4 · CROSS-SOURCE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Corroboration is evidence, not just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1A2027"/>
                </a:solidFill>
                <a:latin typeface="Calibri"/>
              </a:rPr>
              <a:t>Grounded in the Admiralty (NATO) intelligence-grading system's separation of source reliability from information credibility — agreement between independent sources is itself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66928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B1F2B"/>
                </a:solidFill>
                <a:latin typeface="Calibri"/>
              </a:rPr>
              <a:t>Confidence boost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A38C"/>
                </a:solidFill>
                <a:latin typeface="Consolas"/>
              </a:rPr>
              <a:t>boost = headroom × (1 − (1 − 0.35)ⁿ⁻¹)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51206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A38C"/>
                </a:solidFill>
              </a:rPr>
              <a:t>▸  </a:t>
            </a:r>
            <a:r>
              <a:rPr sz="1250">
                <a:solidFill>
                  <a:srgbClr val="1A2027"/>
                </a:solidFill>
              </a:rPr>
              <a:t>headroom = 1.0 − highest individual confidence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A38C"/>
                </a:solidFill>
              </a:rPr>
              <a:t>▸  </a:t>
            </a:r>
            <a:r>
              <a:rPr sz="1250">
                <a:solidFill>
                  <a:srgbClr val="1A2027"/>
                </a:solidFill>
              </a:rPr>
              <a:t>n = number of distinct corroborating sources (capped at 4)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A38C"/>
                </a:solidFill>
              </a:rPr>
              <a:t>▸  </a:t>
            </a:r>
            <a:r>
              <a:rPr sz="1250">
                <a:solidFill>
                  <a:srgbClr val="1A2027"/>
                </a:solidFill>
              </a:rPr>
              <a:t>Never exceeds 1.0 · never reduces confidence for a single-source hit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5120640" cy="3703320"/>
          </a:xfrm>
          <a:prstGeom prst="roundRect">
            <a:avLst>
              <a:gd name="adj" fmla="val 4000"/>
            </a:avLst>
          </a:prstGeom>
          <a:solidFill>
            <a:srgbClr val="0B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FA38C"/>
                </a:solidFill>
                <a:latin typeface="Calibri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31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203.0.113.9 reported by 3 independent sources: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88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C9D3DC"/>
                </a:solidFill>
                <a:latin typeface="Calibri"/>
              </a:rPr>
              <a:t>OTX AlienVault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7889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7296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C9D3DC"/>
                </a:solidFill>
                <a:latin typeface="Calibri"/>
              </a:rPr>
              <a:t>MISP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17296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5701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C9D3DC"/>
                </a:solidFill>
                <a:latin typeface="Calibri"/>
              </a:rPr>
              <a:t>Wazuh SIEM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55701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4032504"/>
            <a:ext cx="4480560" cy="19050"/>
          </a:xfrm>
          <a:prstGeom prst="rect">
            <a:avLst/>
          </a:prstGeom>
          <a:solidFill>
            <a:srgbClr val="1FA3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21538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Correlated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21538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84.6%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71830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C9D3DC"/>
                </a:solidFill>
                <a:latin typeface="Calibri"/>
              </a:rPr>
              <a:t>Higher than any single source — corroboration itself is signal.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FA38C"/>
                </a:solidFill>
                <a:latin typeface="Calibr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F2B"/>
                </a:solidFill>
                <a:latin typeface="Calibri"/>
              </a:rPr>
              <a:t>Same live-execution discipline, applied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14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A38C"/>
                </a:solidFill>
                <a:latin typeface="Calibri"/>
              </a:rPr>
              <a:t>56 →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F2B"/>
                </a:solidFill>
                <a:latin typeface="Calibri"/>
              </a:rPr>
              <a:t>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all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37360"/>
            <a:ext cx="2514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A38C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F2B"/>
                </a:solidFill>
                <a:latin typeface="Calibri"/>
              </a:rPr>
              <a:t>new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260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live curl-verified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37360"/>
            <a:ext cx="2514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A38C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F2B"/>
                </a:solidFill>
                <a:latin typeface="Calibri"/>
              </a:rPr>
              <a:t>RBAC roles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9260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admin / analyst / viewer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737360"/>
            <a:ext cx="2514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920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A38C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0604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F2B"/>
                </a:solidFill>
                <a:latin typeface="Calibri"/>
              </a:rPr>
              <a:t>paper metrics 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9260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GAT weights restored via 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B1F2B"/>
                </a:solidFill>
                <a:latin typeface="Calibri"/>
              </a:rPr>
              <a:t>What was actually run, live: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107899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>
                <a:solidFill>
                  <a:srgbClr val="1A2027"/>
                </a:solidFill>
              </a:rPr>
              <a:t>Full pipeline run with WAZUH in the source list — log shows alerts ingested alongside MISP/CIRCL/OTX, all classifiers passed the overfitting gate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>
                <a:solidFill>
                  <a:srgbClr val="1A2027"/>
                </a:solidFill>
              </a:rPr>
              <a:t>Every new endpoint hit with real HTTP requests under admin, analyst, and viewer tokens — RBAC denials confirmed, not assumed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FA38C"/>
                </a:solidFill>
              </a:rPr>
              <a:t>▸  </a:t>
            </a:r>
            <a:r>
              <a:rPr sz="1350">
                <a:solidFill>
                  <a:srgbClr val="1A2027"/>
                </a:solidFill>
              </a:rPr>
              <a:t>GAT weights artifact deliberately restored via git checkout after an earlier verification step retrained it — the paper's cited Hits@1/MRR numbers remain 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Four things weren't true before this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96012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E8A33D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A SIEM is a bidirectional participant in the pipeline, not just a downstream dashboard consumer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E8A33D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ThreatIQ's output speaks STIX 2.1 and MITRE ATT&amp;CK Navigator — standards the field actually uses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E8A33D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Cross-source corroboration is a first-class confidence signal, grounded in established intelligence tradecraft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E8A33D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Verified the same way as everything else in this project: live tests against a running instance, not just unit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